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Bluestock Mutual Fund Capstone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87452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770"/>
                </a:solidFill>
              </a:rPr>
              <a:t>Final analytics narrative across ETL, EDA, performance, investor behavior, and dashboarding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2423160"/>
            <a:ext cx="6675120" cy="1097280"/>
          </a:xfrm>
          <a:prstGeom prst="roundRect">
            <a:avLst>
              <a:gd name="adj" fmla="val 6667"/>
            </a:avLst>
          </a:prstGeom>
          <a:solidFill>
            <a:srgbClr val="EAF2F8"/>
          </a:solidFill>
          <a:ln w="12700">
            <a:solidFill>
              <a:srgbClr val="C9D9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71800" y="272491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7F7F"/>
                </a:solidFill>
              </a:rPr>
              <a:t>Deliverables: report, deck, clean scripts, README, and zip submission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71800" y="30906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Prepared for myself-archita/Bluestock-Project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612880" y="640080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EAF7"/>
                </a:solidFill>
              </a:rPr>
              <a:t>What the analysis answers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566928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B34"/>
                </a:solidFill>
              </a:rPr>
              <a:t>Measure downside risk with historical VaR and CVaR for all schemes.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B34"/>
                </a:solidFill>
              </a:rPr>
              <a:t>Track whether 90-day rolling Sharpe stays strong over time.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B34"/>
                </a:solidFill>
              </a:rPr>
              <a:t>Understand investor cohorts, SIP continuity, and at-risk behavior.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B34"/>
                </a:solidFill>
              </a:rPr>
              <a:t>Translate analytics into a simple risk-appetite recommender.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92240" y="96012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EAF2F8"/>
          </a:solidFill>
          <a:ln w="12700">
            <a:solidFill>
              <a:srgbClr val="C9D9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1228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B66"/>
                </a:solidFill>
              </a:rPr>
              <a:t>Project objective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0" y="16459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E2B34"/>
                </a:solidFill>
              </a:rPr>
              <a:t>Turn raw mutual fund and investor data into a decision-ready analytics pack that can support product, risk, and investor-facing review.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612880" y="640080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EAF7"/>
                </a:solidFill>
              </a:rPr>
              <a:t>Core datasets used in the capstone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1247120" cy="4480560"/>
        </p:xfrm>
        <a:graphic>
          <a:graphicData uri="http://schemas.openxmlformats.org/drawingml/2006/table">
            <a:tbl>
              <a:tblPr/>
              <a:tblGrid>
                <a:gridCol w="2926080"/>
                <a:gridCol w="8321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34"/>
                          </a:solidFill>
                        </a:rPr>
                        <a:t>Dataset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34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nav_history_cleaned.csv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Daily NAV series used for returns, VaR/CVaR, and Sharpe calculations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fund_master_cleaned.csv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Scheme metadata, category, and risk grade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investor_transactions_cleaned.csv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Transaction-level investor behavior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portfolio_holdings.csv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Sector weights used for HHI concentration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rolling_sharpe.csv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Precomputed 90-day rolling Sharpe series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investor_cohort_analysis.csv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Cohort summary by first transaction year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623560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</a:rPr>
              <a:t>The same processed tables also power the PDF report and the final recommender.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612880" y="640080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EAF7"/>
                </a:solidFill>
              </a:rPr>
              <a:t>ETL to analytics flow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 w="12700">
            <a:solidFill>
              <a:srgbClr val="C9D9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2588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66"/>
                </a:solidFill>
              </a:rPr>
              <a:t>Raw CSVs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06040" y="1234440"/>
            <a:ext cx="502920" cy="457200"/>
          </a:xfrm>
          <a:prstGeom prst="chevron">
            <a:avLst/>
          </a:prstGeom>
          <a:solidFill>
            <a:srgbClr val="2A7F7F"/>
          </a:solidFill>
          <a:ln w="12700">
            <a:solidFill>
              <a:srgbClr val="2A7F7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00584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 w="12700">
            <a:solidFill>
              <a:srgbClr val="C9D9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325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66"/>
                </a:solidFill>
              </a:rPr>
              <a:t>ETL scripts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32120" y="1234440"/>
            <a:ext cx="502920" cy="457200"/>
          </a:xfrm>
          <a:prstGeom prst="chevron">
            <a:avLst/>
          </a:prstGeom>
          <a:solidFill>
            <a:srgbClr val="2A7F7F"/>
          </a:solidFill>
          <a:ln w="12700">
            <a:solidFill>
              <a:srgbClr val="2A7F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00584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 w="12700">
            <a:solidFill>
              <a:srgbClr val="C9D9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13258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66"/>
                </a:solidFill>
              </a:rPr>
              <a:t>Processed data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41080" y="1234440"/>
            <a:ext cx="502920" cy="457200"/>
          </a:xfrm>
          <a:prstGeom prst="chevron">
            <a:avLst/>
          </a:prstGeom>
          <a:solidFill>
            <a:srgbClr val="2A7F7F"/>
          </a:solidFill>
          <a:ln w="12700">
            <a:solidFill>
              <a:srgbClr val="2A7F7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35440" y="100584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 w="12700">
            <a:solidFill>
              <a:srgbClr val="C9D9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29800" y="13258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66"/>
                </a:solidFill>
              </a:rPr>
              <a:t>Outputs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237744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B34"/>
                </a:solidFill>
              </a:rPr>
              <a:t>Cleaning and normalization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B34"/>
                </a:solidFill>
              </a:rPr>
              <a:t>Metric computation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B34"/>
                </a:solidFill>
              </a:rPr>
              <a:t>Notebook insights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B34"/>
                </a:solidFill>
              </a:rPr>
              <a:t>PDF + PPTX publishing</a:t>
            </a:r>
            <a:endParaRPr lang="en-US" sz="1500" dirty="0"/>
          </a:p>
        </p:txBody>
      </p:sp>
      <p:pic>
        <p:nvPicPr>
          <p:cNvPr id="17" name="Image 0" descr="C:\Users\KIIT\Documents\New project\bluestock_mf_capstone\reports\rolling_sharpe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2240280"/>
            <a:ext cx="5669280" cy="24688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612880" y="640080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Highlight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EAF7"/>
                </a:solidFill>
              </a:rPr>
              <a:t>Fund risk distribution</a:t>
            </a:r>
            <a:endParaRPr lang="en-US" sz="850" dirty="0"/>
          </a:p>
        </p:txBody>
      </p:sp>
      <p:pic>
        <p:nvPicPr>
          <p:cNvPr id="5" name="Image 0" descr="C:\Users\KIIT\Documents\New project\bluestock_mf_capstone\reports\return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557784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051560"/>
            <a:ext cx="5120640" cy="3566160"/>
          </a:xfrm>
          <a:prstGeom prst="roundRect">
            <a:avLst>
              <a:gd name="adj" fmla="val 1282"/>
            </a:avLst>
          </a:prstGeom>
          <a:solidFill>
            <a:srgbClr val="EAF2F8"/>
          </a:solidFill>
          <a:ln w="12700">
            <a:solidFill>
              <a:srgbClr val="C9D9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29400" y="132588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B34"/>
                </a:solidFill>
              </a:rPr>
              <a:t>Return distributions are visibly spread, showing that tail-risk matters for scheme selection.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B34"/>
                </a:solidFill>
              </a:rPr>
              <a:t>Negative tails are meaningful enough that VaR and CVaR add value beyond average return.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2B34"/>
                </a:solidFill>
              </a:rPr>
              <a:t>FUND22 is the worst 95% VaR scheme in the processed results.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612880" y="640080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Highlight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EAF7"/>
                </a:solidFill>
              </a:rPr>
              <a:t>Investor segmentation and concentration</a:t>
            </a:r>
            <a:endParaRPr lang="en-US" sz="850" dirty="0"/>
          </a:p>
        </p:txBody>
      </p:sp>
      <p:pic>
        <p:nvPicPr>
          <p:cNvPr id="5" name="Image 0" descr="C:\Users\KIIT\Documents\New project\bluestock_mf_capstone\reports\sector_allocation_don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14400"/>
            <a:ext cx="4206240" cy="3931920"/>
          </a:xfrm>
          <a:prstGeom prst="rect">
            <a:avLst/>
          </a:prstGeom>
        </p:spPr>
      </p:pic>
      <p:pic>
        <p:nvPicPr>
          <p:cNvPr id="6" name="Image 1" descr="C:\Users\KIIT\Documents\New project\bluestock_mf_capstone\reports\age_distribution_p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914400"/>
            <a:ext cx="3657600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321040" y="960120"/>
            <a:ext cx="3383280" cy="3794760"/>
          </a:xfrm>
          <a:prstGeom prst="roundRect">
            <a:avLst>
              <a:gd name="adj" fmla="val 1351"/>
            </a:avLst>
          </a:prstGeom>
          <a:solidFill>
            <a:srgbClr val="EAF2F8"/>
          </a:solidFill>
          <a:ln w="12700">
            <a:solidFill>
              <a:srgbClr val="C9D9D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549640" y="1234440"/>
            <a:ext cx="2926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E2B34"/>
                </a:solidFill>
              </a:rPr>
              <a:t>Equity concentration is moderate by HHI.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E2B34"/>
                </a:solidFill>
              </a:rPr>
              <a:t>Investor age and geography views can support segmentation.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E2B34"/>
                </a:solidFill>
              </a:rPr>
              <a:t>The main behavioral story is not a crisis; it is consistency.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612880" y="640080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Metrics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EAF7"/>
                </a:solidFill>
              </a:rPr>
              <a:t>VaR / CVaR and scheme ranking</a:t>
            </a:r>
            <a:endParaRPr lang="en-US" sz="850" dirty="0"/>
          </a:p>
        </p:txBody>
      </p:sp>
      <p:pic>
        <p:nvPicPr>
          <p:cNvPr id="5" name="Image 0" descr="C:\Users\KIIT\Documents\New project\bluestock_mf_capstone\reports\volatility_r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14400"/>
            <a:ext cx="4572000" cy="384048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960120"/>
          <a:ext cx="6309360" cy="265176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34"/>
                          </a:solidFill>
                        </a:rPr>
                        <a:t>Top tail-risk schemes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34"/>
                          </a:solidFill>
                        </a:rPr>
                        <a:t>VaR 95%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34"/>
                          </a:solidFill>
                        </a:rPr>
                        <a:t>CVaR 95%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FUND22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-1.8455%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-2.2950%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FUND23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-1.7809%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-2.1218%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FUND19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-1.7532%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-2.2384%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FUND35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-1.7386%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-2.1213%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FUND11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-1.7300%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B34"/>
                          </a:solidFill>
                        </a:rPr>
                        <a:t>-2.1423%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40680" y="39776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770"/>
                </a:solidFill>
              </a:rPr>
              <a:t>VaR identifies the threshold loss; CVaR describes the expected loss beyond that threshold.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612880" y="640080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Metrics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EAF7"/>
                </a:solidFill>
              </a:rPr>
              <a:t>Rolling Sharpe over time</a:t>
            </a:r>
            <a:endParaRPr lang="en-US" sz="850" dirty="0"/>
          </a:p>
        </p:txBody>
      </p:sp>
      <p:pic>
        <p:nvPicPr>
          <p:cNvPr id="5" name="Image 0" descr="C:\Users\KIIT\Documents\New project\bluestock_mf_capstone\reports\rolling_sharpe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14400"/>
            <a:ext cx="7315200" cy="3931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46720" y="960120"/>
            <a:ext cx="3611880" cy="3794760"/>
          </a:xfrm>
          <a:prstGeom prst="roundRect">
            <a:avLst>
              <a:gd name="adj" fmla="val 1266"/>
            </a:avLst>
          </a:prstGeom>
          <a:solidFill>
            <a:srgbClr val="EAF2F8"/>
          </a:solidFill>
          <a:ln w="12700">
            <a:solidFill>
              <a:srgbClr val="C9D9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47888" y="123444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E2B34"/>
                </a:solidFill>
              </a:rPr>
              <a:t>Top rolling Sharpe consistency belongs to FUND17 and FUND30.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E2B34"/>
                </a:solidFill>
              </a:rPr>
              <a:t>The chart helps separate persistent skill from short-term spikes.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E2B34"/>
                </a:solidFill>
              </a:rPr>
              <a:t>Rolling windows are more informative than a single endpoint statistic.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612880" y="640080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Screenshot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EAF7"/>
                </a:solidFill>
              </a:rPr>
              <a:t>NAV trend and benchmark overlay</a:t>
            </a:r>
            <a:endParaRPr lang="en-US" sz="850" dirty="0"/>
          </a:p>
        </p:txBody>
      </p:sp>
      <p:pic>
        <p:nvPicPr>
          <p:cNvPr id="5" name="Image 0" descr="C:\Users\KIIT\Documents\New project\bluestock_mf_capstone\reports\nav_trend_all_sche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14400"/>
            <a:ext cx="11155680" cy="4480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0" y="640080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Screenshot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EAF7"/>
                </a:solidFill>
              </a:rPr>
              <a:t>SIP inflow and fund house growth</a:t>
            </a:r>
            <a:endParaRPr lang="en-US" sz="850" dirty="0"/>
          </a:p>
        </p:txBody>
      </p:sp>
      <p:pic>
        <p:nvPicPr>
          <p:cNvPr id="5" name="Image 0" descr="C:\Users\KIIT\Documents\New project\bluestock_mf_capstone\reports\sip_inflow_time_s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14400"/>
            <a:ext cx="5486400" cy="4206240"/>
          </a:xfrm>
          <a:prstGeom prst="rect">
            <a:avLst/>
          </a:prstGeom>
        </p:spPr>
      </p:pic>
      <p:pic>
        <p:nvPicPr>
          <p:cNvPr id="6" name="Image 1" descr="C:\Users\KIIT\Documents\New project\bluestock_mf_capstone\reports\aum_growth_by_fund_hou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914400"/>
            <a:ext cx="5440680" cy="4206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12880" y="640080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23B66"/>
          </a:solidFill>
          <a:ln w="12700">
            <a:solidFill>
              <a:srgbClr val="123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0" y="14630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EAF7"/>
                </a:solidFill>
              </a:rPr>
              <a:t>What matters most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7280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B34"/>
                </a:solidFill>
              </a:rPr>
              <a:t>Tail-risk is concentrated in a handful of funds, with FUND22 the most exposed.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B34"/>
                </a:solidFill>
              </a:rPr>
              <a:t>Investor capital is most heavily represented in the 2025 cohort.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B34"/>
                </a:solidFill>
              </a:rPr>
              <a:t>SIP continuity is healthy across the analyzed groups and no at-risk flag appears in the summary.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B34"/>
                </a:solidFill>
              </a:rPr>
              <a:t>Equity sector concentration is moderate rather than extreme.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B34"/>
                </a:solidFill>
              </a:rPr>
              <a:t>The report package is now organized for handoff and submission.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612880" y="640080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1554480"/>
            <a:ext cx="8503920" cy="1828800"/>
          </a:xfrm>
          <a:prstGeom prst="roundRect">
            <a:avLst>
              <a:gd name="adj" fmla="val 4000"/>
            </a:avLst>
          </a:prstGeom>
          <a:solidFill>
            <a:srgbClr val="EAF2F8"/>
          </a:solidFill>
          <a:ln w="12700">
            <a:solidFill>
              <a:srgbClr val="C9D9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19659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246888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770"/>
                </a:solidFill>
              </a:rPr>
              <a:t>Bluestock Mutual Fund Capstone ? final submission ready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612880" y="6400800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0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Bluestock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Presentation</dc:title>
  <dc:subject>Bluestock Mutual Fund Capstone</dc:subject>
  <dc:creator>Codex</dc:creator>
  <cp:lastModifiedBy>Codex</cp:lastModifiedBy>
  <cp:revision>1</cp:revision>
  <dcterms:created xsi:type="dcterms:W3CDTF">2026-06-11T07:50:41Z</dcterms:created>
  <dcterms:modified xsi:type="dcterms:W3CDTF">2026-06-11T07:50:41Z</dcterms:modified>
</cp:coreProperties>
</file>